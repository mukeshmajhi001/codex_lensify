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f31c215eeb42d1" /><Relationship Type="http://schemas.openxmlformats.org/officeDocument/2006/relationships/extended-properties" Target="/docProps/app.xml" Id="Rb367a8d771864b36" /><Relationship Type="http://schemas.openxmlformats.org/officeDocument/2006/relationships/officeDocument" Target="/ppt/presentation.xml" Id="R64ddca7137d64b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53656e78bc4e29"/>
  </p:sldMasterIdLst>
  <p:notesMasterIdLst>
    <p:notesMasterId xmlns:r="http://schemas.openxmlformats.org/officeDocument/2006/relationships" r:id="R2b4c72c22bf3448e"/>
  </p:notesMasterIdLst>
  <p:sldIdLst>
    <p:sldId xmlns:r="http://schemas.openxmlformats.org/officeDocument/2006/relationships" id="256" r:id="Rdc6d3da750fe46e7"/>
    <p:sldId xmlns:r="http://schemas.openxmlformats.org/officeDocument/2006/relationships" id="257" r:id="R78c8653dd1bf49a6"/>
    <p:sldId xmlns:r="http://schemas.openxmlformats.org/officeDocument/2006/relationships" id="258" r:id="R9e57c520044b4763"/>
    <p:sldId xmlns:r="http://schemas.openxmlformats.org/officeDocument/2006/relationships" id="259" r:id="Rd979cdf9edb44866"/>
    <p:sldId xmlns:r="http://schemas.openxmlformats.org/officeDocument/2006/relationships" id="260" r:id="Rbeba097aa0b24d76"/>
    <p:sldId xmlns:r="http://schemas.openxmlformats.org/officeDocument/2006/relationships" id="261" r:id="Rb057ba8580c4444e"/>
    <p:sldId xmlns:r="http://schemas.openxmlformats.org/officeDocument/2006/relationships" id="262" r:id="Rd0fd4296746f4c7e"/>
    <p:sldId xmlns:r="http://schemas.openxmlformats.org/officeDocument/2006/relationships" id="263" r:id="R595cc0380c6743ec"/>
    <p:sldId xmlns:r="http://schemas.openxmlformats.org/officeDocument/2006/relationships" id="264" r:id="R1a5f2d1e43db466c"/>
    <p:sldId xmlns:r="http://schemas.openxmlformats.org/officeDocument/2006/relationships" id="265" r:id="R3fad145dbcc2413e"/>
    <p:sldId xmlns:r="http://schemas.openxmlformats.org/officeDocument/2006/relationships" id="266" r:id="R1cd5900902364b7d"/>
    <p:sldId xmlns:r="http://schemas.openxmlformats.org/officeDocument/2006/relationships" id="267" r:id="R2ddb14412c8a4d8a"/>
    <p:sldId xmlns:r="http://schemas.openxmlformats.org/officeDocument/2006/relationships" id="268" r:id="R88626a0fd915447a"/>
    <p:sldId xmlns:r="http://schemas.openxmlformats.org/officeDocument/2006/relationships" id="269" r:id="Red08d1f0e82d493c"/>
    <p:sldId xmlns:r="http://schemas.openxmlformats.org/officeDocument/2006/relationships" id="270" r:id="R33ffc95ddf7440bc"/>
    <p:sldId xmlns:r="http://schemas.openxmlformats.org/officeDocument/2006/relationships" id="271" r:id="R85e67dbcc0c84b99"/>
    <p:sldId xmlns:r="http://schemas.openxmlformats.org/officeDocument/2006/relationships" id="272" r:id="R11fa06c0fd4b462c"/>
    <p:sldId xmlns:r="http://schemas.openxmlformats.org/officeDocument/2006/relationships" id="273" r:id="R2c2bb036e34944bd"/>
    <p:sldId xmlns:r="http://schemas.openxmlformats.org/officeDocument/2006/relationships" id="274" r:id="R90fe3ad799844e3d"/>
    <p:sldId xmlns:r="http://schemas.openxmlformats.org/officeDocument/2006/relationships" id="275" r:id="Rbdd056065db349fd"/>
    <p:sldId xmlns:r="http://schemas.openxmlformats.org/officeDocument/2006/relationships" id="276" r:id="R16169dac5f91415a"/>
    <p:sldId xmlns:r="http://schemas.openxmlformats.org/officeDocument/2006/relationships" id="277" r:id="Rd0564f128ef34d1d"/>
    <p:sldId xmlns:r="http://schemas.openxmlformats.org/officeDocument/2006/relationships" id="278" r:id="Rdc75644c22034386"/>
    <p:sldId xmlns:r="http://schemas.openxmlformats.org/officeDocument/2006/relationships" id="279" r:id="R9ad3af149e584189"/>
    <p:sldId xmlns:r="http://schemas.openxmlformats.org/officeDocument/2006/relationships" id="280" r:id="Rdacd64a2733e4196"/>
    <p:sldId xmlns:r="http://schemas.openxmlformats.org/officeDocument/2006/relationships" id="281" r:id="R77d668c2b74442ea"/>
    <p:sldId xmlns:r="http://schemas.openxmlformats.org/officeDocument/2006/relationships" id="282" r:id="Rdd9923825681495b"/>
    <p:sldId xmlns:r="http://schemas.openxmlformats.org/officeDocument/2006/relationships" id="283" r:id="R308b2eef527d42c7"/>
    <p:sldId xmlns:r="http://schemas.openxmlformats.org/officeDocument/2006/relationships" id="284" r:id="R2bf1d79492d04a06"/>
    <p:sldId xmlns:r="http://schemas.openxmlformats.org/officeDocument/2006/relationships" id="285" r:id="Rc80eb4b22866405a"/>
    <p:sldId xmlns:r="http://schemas.openxmlformats.org/officeDocument/2006/relationships" id="286" r:id="R7151470e07eb416d"/>
    <p:sldId xmlns:r="http://schemas.openxmlformats.org/officeDocument/2006/relationships" id="287" r:id="R345a1b6d2012436a"/>
    <p:sldId xmlns:r="http://schemas.openxmlformats.org/officeDocument/2006/relationships" id="288" r:id="R22a5942d814041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c4cfe8152b439e" /><Relationship Type="http://schemas.openxmlformats.org/officeDocument/2006/relationships/slideMaster" Target="/ppt/slideMasters/slideMaster1.xml" Id="Rfb53656e78bc4e29" /><Relationship Type="http://schemas.openxmlformats.org/officeDocument/2006/relationships/notesMaster" Target="/ppt/notesMasters/notesMaster1.xml" Id="R2b4c72c22bf3448e" /><Relationship Type="http://schemas.openxmlformats.org/officeDocument/2006/relationships/presProps" Target="/ppt/presProps.xml" Id="R24f55c5c277d483f" /><Relationship Type="http://schemas.openxmlformats.org/officeDocument/2006/relationships/tableStyles" Target="/ppt/tableStyles.xml" Id="R9db77985941f4b45" /><Relationship Type="http://schemas.openxmlformats.org/officeDocument/2006/relationships/slide" Target="/ppt/slides/slide1.xml" Id="Rdc6d3da750fe46e7" /><Relationship Type="http://schemas.openxmlformats.org/officeDocument/2006/relationships/slide" Target="/ppt/slides/slide2.xml" Id="R78c8653dd1bf49a6" /><Relationship Type="http://schemas.openxmlformats.org/officeDocument/2006/relationships/slide" Target="/ppt/slides/slide3.xml" Id="R9e57c520044b4763" /><Relationship Type="http://schemas.openxmlformats.org/officeDocument/2006/relationships/slide" Target="/ppt/slides/slide4.xml" Id="Rd979cdf9edb44866" /><Relationship Type="http://schemas.openxmlformats.org/officeDocument/2006/relationships/slide" Target="/ppt/slides/slide5.xml" Id="Rbeba097aa0b24d76" /><Relationship Type="http://schemas.openxmlformats.org/officeDocument/2006/relationships/slide" Target="/ppt/slides/slide6.xml" Id="Rb057ba8580c4444e" /><Relationship Type="http://schemas.openxmlformats.org/officeDocument/2006/relationships/slide" Target="/ppt/slides/slide7.xml" Id="Rd0fd4296746f4c7e" /><Relationship Type="http://schemas.openxmlformats.org/officeDocument/2006/relationships/slide" Target="/ppt/slides/slide8.xml" Id="R595cc0380c6743ec" /><Relationship Type="http://schemas.openxmlformats.org/officeDocument/2006/relationships/slide" Target="/ppt/slides/slide9.xml" Id="R1a5f2d1e43db466c" /><Relationship Type="http://schemas.openxmlformats.org/officeDocument/2006/relationships/slide" Target="/ppt/slides/slide10.xml" Id="R3fad145dbcc2413e" /><Relationship Type="http://schemas.openxmlformats.org/officeDocument/2006/relationships/slide" Target="/ppt/slides/slide11.xml" Id="R1cd5900902364b7d" /><Relationship Type="http://schemas.openxmlformats.org/officeDocument/2006/relationships/slide" Target="/ppt/slides/slide12.xml" Id="R2ddb14412c8a4d8a" /><Relationship Type="http://schemas.openxmlformats.org/officeDocument/2006/relationships/slide" Target="/ppt/slides/slide13.xml" Id="R88626a0fd915447a" /><Relationship Type="http://schemas.openxmlformats.org/officeDocument/2006/relationships/slide" Target="/ppt/slides/slide14.xml" Id="Red08d1f0e82d493c" /><Relationship Type="http://schemas.openxmlformats.org/officeDocument/2006/relationships/slide" Target="/ppt/slides/slide15.xml" Id="R33ffc95ddf7440bc" /><Relationship Type="http://schemas.openxmlformats.org/officeDocument/2006/relationships/slide" Target="/ppt/slides/slide16.xml" Id="R85e67dbcc0c84b99" /><Relationship Type="http://schemas.openxmlformats.org/officeDocument/2006/relationships/slide" Target="/ppt/slides/slide17.xml" Id="R11fa06c0fd4b462c" /><Relationship Type="http://schemas.openxmlformats.org/officeDocument/2006/relationships/slide" Target="/ppt/slides/slide18.xml" Id="R2c2bb036e34944bd" /><Relationship Type="http://schemas.openxmlformats.org/officeDocument/2006/relationships/slide" Target="/ppt/slides/slide19.xml" Id="R90fe3ad799844e3d" /><Relationship Type="http://schemas.openxmlformats.org/officeDocument/2006/relationships/slide" Target="/ppt/slides/slide20.xml" Id="Rbdd056065db349fd" /><Relationship Type="http://schemas.openxmlformats.org/officeDocument/2006/relationships/slide" Target="/ppt/slides/slide21.xml" Id="R16169dac5f91415a" /><Relationship Type="http://schemas.openxmlformats.org/officeDocument/2006/relationships/slide" Target="/ppt/slides/slide22.xml" Id="Rd0564f128ef34d1d" /><Relationship Type="http://schemas.openxmlformats.org/officeDocument/2006/relationships/slide" Target="/ppt/slides/slide23.xml" Id="Rdc75644c22034386" /><Relationship Type="http://schemas.openxmlformats.org/officeDocument/2006/relationships/slide" Target="/ppt/slides/slide24.xml" Id="R9ad3af149e584189" /><Relationship Type="http://schemas.openxmlformats.org/officeDocument/2006/relationships/slide" Target="/ppt/slides/slide25.xml" Id="Rdacd64a2733e4196" /><Relationship Type="http://schemas.openxmlformats.org/officeDocument/2006/relationships/slide" Target="/ppt/slides/slide26.xml" Id="R77d668c2b74442ea" /><Relationship Type="http://schemas.openxmlformats.org/officeDocument/2006/relationships/slide" Target="/ppt/slides/slide27.xml" Id="Rdd9923825681495b" /><Relationship Type="http://schemas.openxmlformats.org/officeDocument/2006/relationships/slide" Target="/ppt/slides/slide28.xml" Id="R308b2eef527d42c7" /><Relationship Type="http://schemas.openxmlformats.org/officeDocument/2006/relationships/slide" Target="/ppt/slides/slide29.xml" Id="R2bf1d79492d04a06" /><Relationship Type="http://schemas.openxmlformats.org/officeDocument/2006/relationships/slide" Target="/ppt/slides/slide30.xml" Id="Rc80eb4b22866405a" /><Relationship Type="http://schemas.openxmlformats.org/officeDocument/2006/relationships/slide" Target="/ppt/slides/slide31.xml" Id="R7151470e07eb416d" /><Relationship Type="http://schemas.openxmlformats.org/officeDocument/2006/relationships/slide" Target="/ppt/slides/slide32.xml" Id="R345a1b6d2012436a" /><Relationship Type="http://schemas.openxmlformats.org/officeDocument/2006/relationships/slide" Target="/ppt/slides/slide33.xml" Id="R22a5942d814041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d9f4e049f74a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0a723f3bf5448d" /><Relationship Type="http://schemas.openxmlformats.org/officeDocument/2006/relationships/notesMaster" Target="/ppt/notesMasters/notesMaster1.xml" Id="R65fdfc07307447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8518cd0e6541fd" /><Relationship Type="http://schemas.openxmlformats.org/officeDocument/2006/relationships/notesMaster" Target="/ppt/notesMasters/notesMaster1.xml" Id="R251ade7496644e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e03edd5eba431a" /><Relationship Type="http://schemas.openxmlformats.org/officeDocument/2006/relationships/notesMaster" Target="/ppt/notesMasters/notesMaster1.xml" Id="Rbf0cdcd15fc540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f782bdcb5047a7" /><Relationship Type="http://schemas.openxmlformats.org/officeDocument/2006/relationships/notesMaster" Target="/ppt/notesMasters/notesMaster1.xml" Id="Re0a128ef92db42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1e369f92f34f8b" /><Relationship Type="http://schemas.openxmlformats.org/officeDocument/2006/relationships/notesMaster" Target="/ppt/notesMasters/notesMaster1.xml" Id="Rcb80cd66357c4e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865122ddf246b7" /><Relationship Type="http://schemas.openxmlformats.org/officeDocument/2006/relationships/notesMaster" Target="/ppt/notesMasters/notesMaster1.xml" Id="Rc17f74e7843f49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2358a0b2b140b9" /><Relationship Type="http://schemas.openxmlformats.org/officeDocument/2006/relationships/notesMaster" Target="/ppt/notesMasters/notesMaster1.xml" Id="R9ed4733fc06444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e27c09e08949cc" /><Relationship Type="http://schemas.openxmlformats.org/officeDocument/2006/relationships/notesMaster" Target="/ppt/notesMasters/notesMaster1.xml" Id="Rf7cedbf0396741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4cf653db6d40d6" /><Relationship Type="http://schemas.openxmlformats.org/officeDocument/2006/relationships/notesMaster" Target="/ppt/notesMasters/notesMaster1.xml" Id="R4226f4f0585c491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d9d09a331294150" /><Relationship Type="http://schemas.openxmlformats.org/officeDocument/2006/relationships/notesMaster" Target="/ppt/notesMasters/notesMaster1.xml" Id="R3bb384842d9c4a7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008358c7126451e" /><Relationship Type="http://schemas.openxmlformats.org/officeDocument/2006/relationships/notesMaster" Target="/ppt/notesMasters/notesMaster1.xml" Id="R8407b30538d2463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c0deec6738d4c51" /><Relationship Type="http://schemas.openxmlformats.org/officeDocument/2006/relationships/notesMaster" Target="/ppt/notesMasters/notesMaster1.xml" Id="R51cd8ff3792c4c3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5a3e81438bf4457" /><Relationship Type="http://schemas.openxmlformats.org/officeDocument/2006/relationships/notesMaster" Target="/ppt/notesMasters/notesMaster1.xml" Id="R300a97e98e5546d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1403c4acf7349f0" /><Relationship Type="http://schemas.openxmlformats.org/officeDocument/2006/relationships/notesMaster" Target="/ppt/notesMasters/notesMaster1.xml" Id="Rcdf155024b2d4ad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5de3641f6f243e5" /><Relationship Type="http://schemas.openxmlformats.org/officeDocument/2006/relationships/notesMaster" Target="/ppt/notesMasters/notesMaster1.xml" Id="R5a328ab8f77e458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692e28f2e484cd5" /><Relationship Type="http://schemas.openxmlformats.org/officeDocument/2006/relationships/notesMaster" Target="/ppt/notesMasters/notesMaster1.xml" Id="Rcb5b8cfcfcac477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f71218eb0bd4e2a" /><Relationship Type="http://schemas.openxmlformats.org/officeDocument/2006/relationships/notesMaster" Target="/ppt/notesMasters/notesMaster1.xml" Id="R8ca7d09017ff4bd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acb72657ba949ae" /><Relationship Type="http://schemas.openxmlformats.org/officeDocument/2006/relationships/notesMaster" Target="/ppt/notesMasters/notesMaster1.xml" Id="R2230a6b24eef4aa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a9e0d3016cd4b48" /><Relationship Type="http://schemas.openxmlformats.org/officeDocument/2006/relationships/notesMaster" Target="/ppt/notesMasters/notesMaster1.xml" Id="R16e3a8be33464eb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2527a82394b42a4" /><Relationship Type="http://schemas.openxmlformats.org/officeDocument/2006/relationships/notesMaster" Target="/ppt/notesMasters/notesMaster1.xml" Id="R55ed7390190741d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1cabefb7174477e" /><Relationship Type="http://schemas.openxmlformats.org/officeDocument/2006/relationships/notesMaster" Target="/ppt/notesMasters/notesMaster1.xml" Id="R52a5ae8462df45b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ff838f986b348a8" /><Relationship Type="http://schemas.openxmlformats.org/officeDocument/2006/relationships/notesMaster" Target="/ppt/notesMasters/notesMaster1.xml" Id="R88503fca8f0e43f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cc261ff56c849ad" /><Relationship Type="http://schemas.openxmlformats.org/officeDocument/2006/relationships/notesMaster" Target="/ppt/notesMasters/notesMaster1.xml" Id="Rcae18855a04946b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743e73e6b04441d" /><Relationship Type="http://schemas.openxmlformats.org/officeDocument/2006/relationships/notesMaster" Target="/ppt/notesMasters/notesMaster1.xml" Id="R1333de4faae4469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486a740041d497e" /><Relationship Type="http://schemas.openxmlformats.org/officeDocument/2006/relationships/notesMaster" Target="/ppt/notesMasters/notesMaster1.xml" Id="R225582c1b51c43b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528a040f1544806" /><Relationship Type="http://schemas.openxmlformats.org/officeDocument/2006/relationships/notesMaster" Target="/ppt/notesMasters/notesMaster1.xml" Id="R91728e78e7dd430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65fb9a9b9754b96" /><Relationship Type="http://schemas.openxmlformats.org/officeDocument/2006/relationships/notesMaster" Target="/ppt/notesMasters/notesMaster1.xml" Id="Ref8742d70c7e461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50adddecba94ebc" /><Relationship Type="http://schemas.openxmlformats.org/officeDocument/2006/relationships/notesMaster" Target="/ppt/notesMasters/notesMaster1.xml" Id="Ra889f20becb94e4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6779cceb47f4571" /><Relationship Type="http://schemas.openxmlformats.org/officeDocument/2006/relationships/notesMaster" Target="/ppt/notesMasters/notesMaster1.xml" Id="Rf7a597500c6e438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ec051db2bf94e7d" /><Relationship Type="http://schemas.openxmlformats.org/officeDocument/2006/relationships/notesMaster" Target="/ppt/notesMasters/notesMaster1.xml" Id="Rde77086b1ce94cb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8654e8dd817450e" /><Relationship Type="http://schemas.openxmlformats.org/officeDocument/2006/relationships/notesMaster" Target="/ppt/notesMasters/notesMaster1.xml" Id="R4c7d8840d69741d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1bcdb277c75436d" /><Relationship Type="http://schemas.openxmlformats.org/officeDocument/2006/relationships/notesMaster" Target="/ppt/notesMasters/notesMaster1.xml" Id="Ra53641b72e2b4b8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6af871d5646445a" /><Relationship Type="http://schemas.openxmlformats.org/officeDocument/2006/relationships/notesMaster" Target="/ppt/notesMasters/notesMaster1.xml" Id="Rf6b10d6b8b6741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product promise. Lensify combines a fashion-forward storefront with the operational tools needed to run an eyewear catalogue and order 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Set expectations for the walkthrough. I will move from what a customer sees to what the team uses behind the scenes, then close with implementation boundaries and next steps.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simplest way to describe the project. It is both a shopping experience and a small operating system for the business behind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project balances two sides of commerce. The customer needs clarity at the moment of choice, while the operator needs visibility after the purchase.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visual system deliberately avoids a crowded marketplace look. The palette creates a calm premium tone, while spacing and typography do much of the hierarchy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map is the spine of the product. Each stage removes a specific point of uncertainty rather than adding features for their own sake.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homepage leads with brand and campaign before asking the user to browse. The visual rhythm gives the catalogue a point of 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customer-facing routes are intentionally legible. The main flow stays close to the user mental model: home, shop, product, bag, checkout and account.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catalogue is designed for progressive narrowing. Search helps users state intent, while filters and sorting help them refine without losing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Search suggestions make discovery feel responsive before a full results page loads. That short feedback loop matters when the catalogue is visual and comparison-driven.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product page is where the visual promise becomes a purchase decision. Lensify keeps the frame prominent while giving the buyer the information needed to proceed.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small but important product rule. The customer selects the frame first, then the lens type, so the configured line item remains understandable in the bag.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Wishlist behavior supports consideration, which matters for eyewear because users often compare styles before deciding. The account area gives that shortlist a home.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cart makes the configured item legible before checkout. That is especially useful when a single product has a frame choice and lens choice attached to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Checkout follows a sequence that users can understand at a glance. The interface separates delivery details from the order review so the final action feels deliberate.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intentionally honest. The current build supports the order flow, while live gateway integrations still need to be connected and tested before production.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confirmation page closes the loop and points the customer to the next useful action. Orders and returns remain available from the account area.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Orders, returns and notifications turn a one-time transaction into an ongoing service experience. The admin console receives the operational work that follows.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account area is intentionally practical. It collects profile information, order history, saved frames and delivery details in one predictable navigation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contact route is not isolated from operations. A customer message can create an admin notification, giving the team a clear place to respond.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chapter break. The storefront helps a customer choose; the admin console helps the business run the system after that choice.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admin dashboard is a starting point rather than a destination. It surfaces the work that deserves attention and routes the operator into the detail screens.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catalogue is split into related responsibilities. That keeps product content, variant data and navigation metadata manageable as the project grows.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Inventory is easier to trust when the current state and the change history live together. The admin user can see availability and investigate how it moved.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operations flow turns ambiguous follow-up into named states. That helps the customer see progress and gives the operator a clear next 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admin console treats reviews and messages as operational inputs. Moderation, response and notification form a small but complete loop.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Banners and coupons are the bridge between the static catalogue and changing campaigns. They let the operator update emphasis without changing the underlying route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Reports support the business view, customer records hold context, and activity logs help explain what happened. Together they move the admin experience beyond CRUD.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Responsive behavior is part of the product design, not a final polish step. The customer journey remains intact as layout, navigation and touch targets adapt.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architecture is deliberately understandable. Routes handle the page, the bootstrap centralises shared behavior, the database stores the model, and assets stay separate from application logic.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safeguards shown here are grounded in the project structure: session handling, admin gates, prepared database statements, upload helpers, logging and local configuration overrides.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roadmap separates finished project scope from production work. The README also calls out payment gateway integration, owned imagery, legal copy and deployment hardening as future responsibilities.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three ideas: a clear customer journey, an operational admin system and an architecture that remains understandable. Invite questions around the live demo, implementation choices and roadmap.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fece1a5b4e49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00dc795b2142f5" /><Relationship Type="http://schemas.openxmlformats.org/officeDocument/2006/relationships/slideLayout" Target="/ppt/slideLayouts/slideLayout1.xml" Id="R4fc312ef7c9d4e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c312ef7c9d4e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a84a050e9b4224" /><Relationship Type="http://schemas.openxmlformats.org/officeDocument/2006/relationships/image" Target="/ppt/media/image.jpeg" Id="R9a8e2b3e370e4f72" /><Relationship Type="http://schemas.openxmlformats.org/officeDocument/2006/relationships/notesSlide" Target="/ppt/notesSlides/notesSlide1.xml" Id="R669f41b4d5f54b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2264d098774d75" /><Relationship Type="http://schemas.openxmlformats.org/officeDocument/2006/relationships/notesSlide" Target="/ppt/notesSlides/notesSlide2.xml" Id="R7fa9dae7da3f47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5236ecc036472b" /><Relationship Type="http://schemas.openxmlformats.org/officeDocument/2006/relationships/image" Target="/ppt/media/image2.jpeg" Id="R4d9d2d49db464eaa" /><Relationship Type="http://schemas.openxmlformats.org/officeDocument/2006/relationships/notesSlide" Target="/ppt/notesSlides/notesSlide3.xml" Id="R7cf9f54c1ff84f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9144e6e7cc4e8e" /><Relationship Type="http://schemas.openxmlformats.org/officeDocument/2006/relationships/notesSlide" Target="/ppt/notesSlides/notesSlide4.xml" Id="R619029b92b1b4b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cc0229914452b" /><Relationship Type="http://schemas.openxmlformats.org/officeDocument/2006/relationships/notesSlide" Target="/ppt/notesSlides/notesSlide5.xml" Id="Rea8d3d54cd664b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5d5a2c39e946a6" /><Relationship Type="http://schemas.openxmlformats.org/officeDocument/2006/relationships/notesSlide" Target="/ppt/notesSlides/notesSlide6.xml" Id="R62b7a768b1d942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fb438961a404c" /><Relationship Type="http://schemas.openxmlformats.org/officeDocument/2006/relationships/image" Target="/ppt/media/image3.jpeg" Id="R028388ab037144d3" /><Relationship Type="http://schemas.openxmlformats.org/officeDocument/2006/relationships/notesSlide" Target="/ppt/notesSlides/notesSlide7.xml" Id="R82f7c10f69c14f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20d991f5cf4dc9" /><Relationship Type="http://schemas.openxmlformats.org/officeDocument/2006/relationships/notesSlide" Target="/ppt/notesSlides/notesSlide8.xml" Id="R60c55a14db8e48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440a0d3d9f42dd" /><Relationship Type="http://schemas.openxmlformats.org/officeDocument/2006/relationships/image" Target="/ppt/media/image.png" Id="Re614e4b8f461473d" /><Relationship Type="http://schemas.openxmlformats.org/officeDocument/2006/relationships/image" Target="/ppt/media/image4.jpeg" Id="Rfa1a251e8cfb4f4a" /><Relationship Type="http://schemas.openxmlformats.org/officeDocument/2006/relationships/notesSlide" Target="/ppt/notesSlides/notesSlide9.xml" Id="Ra97d77cda58d4a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d41686672c4365" /><Relationship Type="http://schemas.openxmlformats.org/officeDocument/2006/relationships/notesSlide" Target="/ppt/notesSlides/notesSlide10.xml" Id="R8d20035d06d9438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5ae7823594fe1" /><Relationship Type="http://schemas.openxmlformats.org/officeDocument/2006/relationships/image" Target="/ppt/media/image.bin" Id="R9610088b5f7a4847" /><Relationship Type="http://schemas.openxmlformats.org/officeDocument/2006/relationships/notesSlide" Target="/ppt/notesSlides/notesSlide11.xml" Id="R26a620db36d04a3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a5937efb924a0c" /><Relationship Type="http://schemas.openxmlformats.org/officeDocument/2006/relationships/notesSlide" Target="/ppt/notesSlides/notesSlide12.xml" Id="R42c35e4ad1944da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c128b25528416b" /><Relationship Type="http://schemas.openxmlformats.org/officeDocument/2006/relationships/image" Target="/ppt/media/image5.jpeg" Id="Rbebc5ac47e3a4b41" /><Relationship Type="http://schemas.openxmlformats.org/officeDocument/2006/relationships/notesSlide" Target="/ppt/notesSlides/notesSlide13.xml" Id="R5e7b30318cfb40a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91cbb328bc4514" /><Relationship Type="http://schemas.openxmlformats.org/officeDocument/2006/relationships/notesSlide" Target="/ppt/notesSlides/notesSlide14.xml" Id="R2fcbc4e7317549e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3e80120714872" /><Relationship Type="http://schemas.openxmlformats.org/officeDocument/2006/relationships/notesSlide" Target="/ppt/notesSlides/notesSlide15.xml" Id="Rcbc4c51036bb465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2ff3473f0459c" /><Relationship Type="http://schemas.openxmlformats.org/officeDocument/2006/relationships/notesSlide" Target="/ppt/notesSlides/notesSlide16.xml" Id="R7563e19f9d6f46c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cdf6aa0204cfe" /><Relationship Type="http://schemas.openxmlformats.org/officeDocument/2006/relationships/notesSlide" Target="/ppt/notesSlides/notesSlide17.xml" Id="Rf990c0556a8544d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26029b1b8c40ad" /><Relationship Type="http://schemas.openxmlformats.org/officeDocument/2006/relationships/notesSlide" Target="/ppt/notesSlides/notesSlide18.xml" Id="R17e06544c4d3474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17ee5e3193465a" /><Relationship Type="http://schemas.openxmlformats.org/officeDocument/2006/relationships/notesSlide" Target="/ppt/notesSlides/notesSlide19.xml" Id="R2859af6a40184b6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5c914fb82347aa" /><Relationship Type="http://schemas.openxmlformats.org/officeDocument/2006/relationships/notesSlide" Target="/ppt/notesSlides/notesSlide20.xml" Id="Radca31c788f0448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da7a81c0654c16" /><Relationship Type="http://schemas.openxmlformats.org/officeDocument/2006/relationships/notesSlide" Target="/ppt/notesSlides/notesSlide21.xml" Id="R3fab217a88034f8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4ac397548643c0" /><Relationship Type="http://schemas.openxmlformats.org/officeDocument/2006/relationships/notesSlide" Target="/ppt/notesSlides/notesSlide22.xml" Id="Rede71345712b40a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de90e55c254381" /><Relationship Type="http://schemas.openxmlformats.org/officeDocument/2006/relationships/notesSlide" Target="/ppt/notesSlides/notesSlide23.xml" Id="R98b39bcadbc0450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a8391fe9224c83" /><Relationship Type="http://schemas.openxmlformats.org/officeDocument/2006/relationships/notesSlide" Target="/ppt/notesSlides/notesSlide24.xml" Id="Rdde4601a3ef5418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b1c3a888274912" /><Relationship Type="http://schemas.openxmlformats.org/officeDocument/2006/relationships/notesSlide" Target="/ppt/notesSlides/notesSlide25.xml" Id="R16a798cd5f57416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975b0838b6486d" /><Relationship Type="http://schemas.openxmlformats.org/officeDocument/2006/relationships/notesSlide" Target="/ppt/notesSlides/notesSlide26.xml" Id="R83740ac5fe6a419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99aa2d13a545a5" /><Relationship Type="http://schemas.openxmlformats.org/officeDocument/2006/relationships/image" Target="/ppt/media/image6.jpeg" Id="R4bda0baa87774d18" /><Relationship Type="http://schemas.openxmlformats.org/officeDocument/2006/relationships/notesSlide" Target="/ppt/notesSlides/notesSlide27.xml" Id="R5b458a00662e4bd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099b17bdcb4c2e" /><Relationship Type="http://schemas.openxmlformats.org/officeDocument/2006/relationships/notesSlide" Target="/ppt/notesSlides/notesSlide28.xml" Id="R0fcbfd62ec8e4ee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c68835f0e944bd" /><Relationship Type="http://schemas.openxmlformats.org/officeDocument/2006/relationships/notesSlide" Target="/ppt/notesSlides/notesSlide29.xml" Id="R80c463d9028449f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81b625aade4187" /><Relationship Type="http://schemas.openxmlformats.org/officeDocument/2006/relationships/notesSlide" Target="/ppt/notesSlides/notesSlide30.xml" Id="R583f36469a1b4ee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e088f10b284b7e" /><Relationship Type="http://schemas.openxmlformats.org/officeDocument/2006/relationships/notesSlide" Target="/ppt/notesSlides/notesSlide31.xml" Id="Rd21874e735004c1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b6e818027948a4" /><Relationship Type="http://schemas.openxmlformats.org/officeDocument/2006/relationships/notesSlide" Target="/ppt/notesSlides/notesSlide32.xml" Id="R719933c8b50c4c8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7e9c5fea304acf" /><Relationship Type="http://schemas.openxmlformats.org/officeDocument/2006/relationships/image" Target="/ppt/media/image7.jpeg" Id="R56ba0c0ba8a74881" /><Relationship Type="http://schemas.openxmlformats.org/officeDocument/2006/relationships/notesSlide" Target="/ppt/notesSlides/notesSlide33.xml" Id="R1774ad0934b049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16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8e2b3e370e4f72"/>
          <a:srcRect xmlns:a="http://schemas.openxmlformats.org/drawingml/2006/main" l="24046" t="0" r="240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A414D8-4DE6-422B-87FC-7ACF9CEE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71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9AA88-3C3C-4D75-BA78-7C420979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B7A58B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B7A58B"/>
                </a:solidFill>
                <a:latin typeface="Aptos"/>
                <a:ea typeface="Aptos"/>
                <a:cs typeface="Aptos"/>
              </a:rPr>
              <a:t>LENSIFY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2DD093-7A6E-49AD-995C-6D7ECB69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619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See better.</a:t>
            </a:r>
          </a:p>
          <a:p xmlns:a="http://schemas.openxmlformats.org/drawingml/2006/main">
            <a:pPr>
              <a:defRPr sz="4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Shop smarter.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B7B466-BAE0-468C-AF3C-88D1C5E9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E6E1D8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E6E1D8"/>
                </a:solidFill>
                <a:latin typeface="Aptos"/>
                <a:ea typeface="Aptos"/>
                <a:cs typeface="Aptos"/>
              </a:rPr>
              <a:t>A premium eyewear commerce experience, explained from storefront to operations.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E0FEFF-5A4F-48DE-B02E-D54FBD2D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4287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B7A58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BE8806-1A0E-4510-843A-F69292AF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86375"/>
            <a:ext cx="1200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PRODUCT SHOWCASE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0F9DB2-B98F-405D-AF48-2E443093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LENSIFY / PRODUCT STORY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63393C-E25C-4CA7-9B56-955BDB30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126009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1C597A-79B8-4680-A405-7A1C744B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01 / TODAY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9DC621-C554-492F-9E00-6881D737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What I’m showing today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61DCBC-82D8-4B6B-B131-C91F1EA5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A live product story, not a feature dump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655096-9376-4D60-A8FA-3A0A33ED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2CDC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1DB66E-9A0E-447B-9C6F-C181C7B1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B7A58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B7A5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B10CC6-4F9A-4BEA-A6FC-DED8B395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479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The storefront experience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B7C97A-7B5F-462A-BA0E-CDB8FEBF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4953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2CDC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83CAC8-BC66-4AF0-A117-381BCE88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B7A58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B7A5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454DD2-58B3-4DF8-A9C9-D455A9EC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7660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The customer journey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A9E4BB-DAFC-41E5-BB47-209C5F87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76650"/>
            <a:ext cx="4953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2CDC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296BA0-34A5-448B-86D7-B22579F4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B7A58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B7A5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99543A-AB7F-418B-84CE-40A2C136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The admin operating system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29B5F3-8FD2-4DD5-AD58-8E028FB0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05300"/>
            <a:ext cx="4953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2CDC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7EC6A8-7949-4145-AB07-3986ABFD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B7A58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B7A5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B323B4-CA49-47EB-8D77-63D5FD7B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3390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The technical foundation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63BF25-3B8C-4CB7-9CA2-E9D3E3A1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33950"/>
            <a:ext cx="4953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2CDC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F490C1-3AB4-4BAE-8ECA-27F87907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B7A58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B7A5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6BADCA-8452-4110-8BD3-6F8BE10B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625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What comes next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88C170-D50E-4418-A92C-56375AE9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62600"/>
            <a:ext cx="4953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2CDC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AD967F-E7C7-4007-A980-480A1FB4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3333750" cy="27622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4CB7A9-ACC4-4E06-86BF-538BB233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050" b="1" i="0">
                <a:solidFill>
                  <a:srgbClr val="B7A58B"/>
                </a:solidFill>
                <a:latin typeface="Aptos"/>
                <a:ea typeface="Aptos"/>
                <a:cs typeface="Aptos"/>
              </a:defRPr>
            </a:pPr>
            <a:r>
              <a:rPr sz="7050" b="1" i="0">
                <a:solidFill>
                  <a:srgbClr val="B7A58B"/>
                </a:solidFill>
                <a:latin typeface="Aptos"/>
                <a:ea typeface="Aptos"/>
                <a:cs typeface="Aptos"/>
              </a:rPr>
              <a:t>33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3BDE31-5804-40B6-8CA7-AB6EE356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195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slides</a:t>
            </a:r>
          </a:p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from browse to roadmap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61533F-BF60-4932-8E03-A7DAC9E4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LENSIFY / PROJECT WALKTHROUGH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577391-713C-4F81-8FFF-E91F883B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183251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A24F41-2DDE-4C45-9AB8-39EFEBA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02 /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8729E9-64BB-42CD-B604-EFDF8385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Product in one sentence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AA6D80-2DF9-42CF-8F54-A6401118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Lensify turns eyewear discovery into a clear, complete buying journey.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D6C07F-4CC6-48B2-AB65-15B23C09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2CDC4"/>
            </a:solidFill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9d2d49db464eaa"/>
          <a:srcRect xmlns:a="http://schemas.openxmlformats.org/drawingml/2006/main" l="0" t="15714" r="0" b="157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667000"/>
            <a:ext cx="3333750" cy="2857500"/>
          </a:xfrm>
          <a:prstGeom xmlns:a="http://schemas.openxmlformats.org/drawingml/2006/main" prst="roundRect">
            <a:avLst>
              <a:gd name="adj" fmla="val 533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BEC60E-460B-40F9-A44A-A7416B1B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1940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Premium eyewear</a:t>
            </a:r>
          </a:p>
          <a:p xmlns:a="http://schemas.openxmlformats.org/drawingml/2006/main">
            <a:pPr>
              <a:defRPr sz="31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e-commerce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C9D9B1-D4DA-45CF-9145-58D1AC0B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03860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A responsive PHP application with a polished catalogue, session bag, checkout, customer account and admin console.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60833D-05AB-4B0C-91AA-E4775A27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219700"/>
            <a:ext cx="14287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A0B2F3-9E49-4834-9C7D-33767C8F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286375"/>
            <a:ext cx="1200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PHP 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88F1B1-BECD-4E21-9D40-64AFACCB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19700"/>
            <a:ext cx="14287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B7A58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3279D7-FC2E-4A3C-B3E8-702FBD95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286375"/>
            <a:ext cx="1200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MYSQL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13DDA3-28CA-4D58-B7E6-93F7C6A5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219700"/>
            <a:ext cx="14287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AAB7A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F1B958-E6FB-452E-9B71-F99E3CFB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86375"/>
            <a:ext cx="1200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TAILWIND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A28C16-5D26-42A3-9BF0-33FB2BEF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LENSIFY / PROJECT WALKTHROUGH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8CBA13-C169-40D2-84F0-4EDD20AC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659880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78DA11-12C5-4F8D-B6FF-C9BAAB14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03 /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7B6F0D-90AA-4E92-B617-2009AAF2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Why this project exists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9DF47A-DABB-4DBA-A38E-13510251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Eyewear needs more confidence than a typical catalogue purchase.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E0445F-6D17-4212-8456-80B9B578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2CDC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DD6E5E-222B-4FDD-85BC-3934FD6B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The customer needs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039E1E-1CDE-4A19-96EB-2FCF0850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4572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Find a frame quickly</a:t>
            </a:r>
          </a:p>
          <a:p xmlns:a="http://schemas.openxmlformats.org/drawingml/2006/main">
            <a:pPr>
              <a:defRPr sz="1350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Understand the product</a:t>
            </a:r>
          </a:p>
          <a:p xmlns:a="http://schemas.openxmlformats.org/drawingml/2006/main">
            <a:pPr>
              <a:defRPr sz="1350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Choose the right lens type</a:t>
            </a:r>
          </a:p>
          <a:p xmlns:a="http://schemas.openxmlformats.org/drawingml/2006/main">
            <a:pPr>
              <a:defRPr sz="1350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Know what happens after payment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202795-D0E7-4B38-8722-7621F747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47950"/>
            <a:ext cx="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2CDC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FEF68D-6BEA-411E-A593-ED32BC8D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670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The business needs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CF89F-1330-4459-BA95-0073694E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48000"/>
            <a:ext cx="4572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Manage products and variants</a:t>
            </a:r>
          </a:p>
          <a:p xmlns:a="http://schemas.openxmlformats.org/drawingml/2006/main">
            <a:pPr>
              <a:defRPr sz="1350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Track stock and orders</a:t>
            </a:r>
          </a:p>
          <a:p xmlns:a="http://schemas.openxmlformats.org/drawingml/2006/main">
            <a:pPr>
              <a:defRPr sz="1350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Moderate reviews and messages</a:t>
            </a:r>
          </a:p>
          <a:p xmlns:a="http://schemas.openxmlformats.org/drawingml/2006/main">
            <a:pPr>
              <a:defRPr sz="1350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Keep a usable audit trail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DCB744-25E7-4A75-8172-9BE3CE0A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4287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B7A58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86CE5A-ADB4-4722-984E-70720EE7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72125"/>
            <a:ext cx="1200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OPPORTUNITY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555B58-01F1-4DAA-A6C1-023623E6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505450"/>
            <a:ext cx="14287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1FABDF-92AA-49E6-96DB-8B702473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572125"/>
            <a:ext cx="1200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62DB52-5D73-4AC9-B50C-2B065DF2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LENSIFY / PROJECT WALKTHROUGH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9D0789-A37E-4BCF-A6F6-3189DACC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301807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37EAEE-FDA2-4BFF-9F8F-C1013660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04 / DESIGN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E6D92-7936-4AB1-AE1D-6E93C841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Design direction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D95AAC-C1D6-4822-8737-1516424E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Editorial typography, monochrome surfaces and space to breathe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ED6639-C313-4121-8BEF-61BCD769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2CDC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3B2385-81CF-4201-88A7-3F49D09E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00025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5B928B-0371-49E9-B720-E65FA5BC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86050"/>
            <a:ext cx="200025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4ABDFD-E0DB-4F41-9758-043F821B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86050"/>
            <a:ext cx="200025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B7A58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631EA3-B03F-4EEF-BDEA-3A708876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86050"/>
            <a:ext cx="200025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AAB7A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295D94-7BD4-4861-982E-707853DA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CBA6F2-B4A3-44FC-80BF-C705DBFC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0005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MIST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5862CC-2FD0-4490-B8E5-78D59B5B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0005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WARM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1D954A-A941-4BC2-97C0-34844D3F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005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SAGE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96A663-5880-4064-A3F9-0B38F2C1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Large headlines create a fashion-led first impression. Thin rules, generous margins and restrained color keep the interface easy to scan.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A0118A-B9F6-4BDA-9153-93E212C1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LENSIFY / PROJECT WALKTHROUGH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B4688A-0FA9-451A-B989-DD48E90A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499837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A3E7F4-BEFF-464D-B649-FF998844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05 /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E45137-8E51-46FF-8845-E385F08A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Experience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3B2598-2C79-4CFC-BEDC-4CDE804C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Every screen has a job in the customer story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51781B-FB62-43EB-A5E5-B0BDCBB2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2CDC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F82E61-4ABF-48E4-9AD5-0AC089A5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6573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736AF7-2484-4111-9835-2ACE6097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B7A58B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B7A5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AD7D17-7256-48C7-A9C1-EB6E71FE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Discover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AF0402-FB26-47F3-808F-0AC2B3A7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19500"/>
            <a:ext cx="4953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B7A58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FAC6FC-92CA-4D73-AE76-D0935334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48000"/>
            <a:ext cx="16573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EA0D4C-640C-42FC-8CC5-8700FA33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194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B7A58B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B7A5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3B9537-B29B-43AC-81A9-6F67FF44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195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B5C4DF-ECC3-4A1D-A225-29EB0E36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19500"/>
            <a:ext cx="4953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B7A58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1A8679-1F36-4796-BA13-654A84F5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48000"/>
            <a:ext cx="16573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0D2F30-AB55-4F7C-9640-EB0EF72B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194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B7A58B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B7A5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E18C72-CEFA-4D89-BF3E-591EE70D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6195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Choose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3CA825-E2F4-4653-AC58-18BAD1AB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19500"/>
            <a:ext cx="4953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B7A58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E24D1B-3669-4191-BF65-BED4FD42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48000"/>
            <a:ext cx="16573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6BD5ED-9A43-4A6D-8CFC-22E8A2A7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194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B7A58B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B7A5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9D4D6D-DC89-4D7B-B187-28A3C596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195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Checkout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A0151B-4D03-4714-B8E9-161E5AEA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19500"/>
            <a:ext cx="4953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B7A58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1E2B69-C379-4444-81B6-349D0F36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48000"/>
            <a:ext cx="16573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D4C0AF-D107-4DE7-A878-CF5CFCB5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194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B7A58B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B7A5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F8246C-3683-4798-B85B-B7D2CC17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6195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Aftercare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8CD20B-6249-467B-8061-023CA0C7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Browse → product confidence → lens choice → order clarity → repeat relationship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3B7361-C210-422D-ACB3-0BA33BE2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LENSIFY / PROJECT WALKTHROUGH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D296B2-5AD0-4CBC-9B85-9987FD01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054511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2BCDBE-2C4F-4669-B870-0B1FBF6F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06 / STOREFRONT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DE4FD1-5FA2-41E8-9831-74A07871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Homepage: first impression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54B1C7-4BCE-42AC-917D-FF8A737B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A strong landing page makes the catalogue feel intentional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4F5EE3-09E2-42AC-86C0-E60B235C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2CDC4"/>
            </a:solidFill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8388ab037144d3"/>
          <a:srcRect xmlns:a="http://schemas.openxmlformats.org/drawingml/2006/main" l="0" t="17892" r="0" b="178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667000"/>
            <a:ext cx="6667500" cy="2857500"/>
          </a:xfrm>
          <a:prstGeom xmlns:a="http://schemas.openxmlformats.org/drawingml/2006/main" prst="roundRect">
            <a:avLst>
              <a:gd name="adj" fmla="val 533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D96338-E781-4B7E-A8E7-8AD1F132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67000"/>
            <a:ext cx="323850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F11A3E-4790-4801-AEDD-8EB0C454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48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B7A58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B7A5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FC4168-D801-44A1-8462-3D9C4DA5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289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Brand cue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614610-04BF-4851-AF54-76E9FD73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29000"/>
            <a:ext cx="4953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2CDC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5917C2-D71D-4F2D-884C-012E7149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52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B7A58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B7A5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B7857C-7BA3-4524-A3ED-5F4C8D6E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3380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Campaign moment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7452F6-CBED-4783-9040-5FB4C7D5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33850"/>
            <a:ext cx="4953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2CDC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BC4240-033A-4902-B4C2-F72F965E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57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B7A58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B7A5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4346FB-E2AF-44ED-B381-B33B421D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386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Clear entry into shopping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D2F8C2-27E8-4745-B201-A698480D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838700"/>
            <a:ext cx="4953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2CDC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8BAB67-6913-4EF0-94A0-BDF3261B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LENSIFY / PROJECT WALKTHROUGH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F2817D-646F-4FB9-B9EB-55A8C6EE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100838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1FEDC9-220B-4B64-B75C-937C10C4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07 /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BCBDE6-4AC1-4B9B-B374-48856140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Navigation and information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E0C18F-A7C4-4832-B277-D210A97C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The route model follows how people think about shopping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22845F-E18E-43FA-BCF6-3703BC6B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2CDC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6F3C06-460F-41D7-BF80-C73C4E66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42875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6CA20C-1C11-4CEA-89A3-2C86D2AC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Home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DC0F23-9157-4D79-A912-9CE63284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B7A58B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7A58B"/>
                </a:solidFill>
                <a:latin typeface="Aptos"/>
                <a:ea typeface="Aptos"/>
                <a:cs typeface="Aptos"/>
              </a:rPr>
              <a:t>index.php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E2EA5-E915-4A62-9E89-87FF7D7A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0520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7A58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7B7F4C-5794-418C-836A-02AB931C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43250"/>
            <a:ext cx="142875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3BCD16-DE25-4642-82EE-11808417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95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Shop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F972A5-D521-4FC5-B7B4-6882752C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004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shop.php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E896EF-9114-42FA-A05A-CA01E1A8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0520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7A58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16BB30-412D-4BE2-A86A-6AC8345E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43250"/>
            <a:ext cx="142875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9D3101-C28C-4966-91C4-5AE340D9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95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Product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A22DF2-D952-4F1E-9C1E-8FF4EF95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004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product.php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22C5AE-CC80-4297-8406-354DD690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0520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7A58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56204F-F0C2-4742-AA93-EEAC01B3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142875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04D1A0-2E69-4351-A609-010A4FC5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95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Bag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76196D-2334-4255-A127-D00CB108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004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cart.php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4CE3EE-87F4-4E92-9776-7E7F2C86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0520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7A58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ED5001-F8D7-41E7-9CFF-24C8756B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43250"/>
            <a:ext cx="142875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7873ED-83F4-4B43-93E4-0B3B7B46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95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Checkout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E78AEB-3FF6-4A51-9A0D-152948CB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004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checkout.php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D60060-2667-4FD8-8764-CE0B4504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0520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7A58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085D19-58C8-40C6-B391-1E8AF321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43250"/>
            <a:ext cx="142875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514F37-1D18-4910-8C26-0F81358F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295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Account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CF83FF-4243-4D9A-89F1-16AA0219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6004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account.php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B97497-C5C7-4DE6-8A00-3D66E58F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The same information architecture supports desktop navigation and a compact mobile menu.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04AE64-0464-4C8B-B321-E08636F7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LENSIFY / PROJECT WALKTHROUGH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18A7D2-8AA7-426F-9F0E-5BB758A5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990379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646510-C165-466D-B344-8C44863D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08 / DISCOVERY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03676E-F25A-4C40-ACD0-40AEF869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Shop: browse the catalogue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38813A-6780-420E-82C0-16C6F832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Search, filtering and sorting turn a large catalogue into a short list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24BFAE-73B1-47A7-95DA-6A7CC2BE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2CDC4"/>
            </a:solidFill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14e4b8f461473d"/>
          <a:srcRect xmlns:a="http://schemas.openxmlformats.org/drawingml/2006/main" l="23250" t="0" r="232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705100"/>
            <a:ext cx="2667000" cy="2667000"/>
          </a:xfrm>
          <a:prstGeom xmlns:a="http://schemas.openxmlformats.org/drawingml/2006/main" prst="roundRect">
            <a:avLst>
              <a:gd name="adj" fmla="val 5714"/>
            </a:avLst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1a251e8cfb4f4a"/>
          <a:srcRect xmlns:a="http://schemas.openxmlformats.org/drawingml/2006/main" l="20000" t="0" r="20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43300" y="2705100"/>
            <a:ext cx="2667000" cy="2667000"/>
          </a:xfrm>
          <a:prstGeom xmlns:a="http://schemas.openxmlformats.org/drawingml/2006/main" prst="roundRect">
            <a:avLst>
              <a:gd name="adj" fmla="val 571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A3D334-76EF-4CE6-9C72-4148CF9E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05100"/>
            <a:ext cx="4191000" cy="2667000"/>
          </a:xfrm>
          <a:prstGeom xmlns:a="http://schemas.openxmlformats.org/drawingml/2006/main" prst="roundRect">
            <a:avLst>
              <a:gd name="adj" fmla="val 6429"/>
            </a:avLst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E476F8-045B-40CD-8043-EEFBCBFB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90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B7A58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B7A58B"/>
                </a:solidFill>
                <a:latin typeface="Aptos"/>
                <a:ea typeface="Aptos"/>
                <a:cs typeface="Aptos"/>
              </a:rPr>
              <a:t>DISCOVERY CONTROLS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CCFD20-547F-4C79-91BF-680010BB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29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B7A58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B7A5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33B26C-F9BB-43DE-85EA-2A6CFB10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099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Search by intent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876091-A7DE-4546-A545-77903F47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10000"/>
            <a:ext cx="4953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2CDC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04CD18-5674-41F2-9EC0-7EDCEC22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00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B7A58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B7A5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012364-0147-44E8-90F1-E0154EAB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814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Filter by category or brand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C6015D-02E6-4046-81C4-CCFCE7C4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81500"/>
            <a:ext cx="4953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2CDC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37A5D1-6DDB-4F71-A02D-ED317DE2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72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B7A58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B7A5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B3A4CC-666D-41D7-9C6D-77437E3F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529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Sort the result set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586526-CC1D-4EDF-BA1D-8DAFC1D3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953000"/>
            <a:ext cx="4953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2CDC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C7AD40-A5FE-4702-B1B1-5C436FFC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LENSIFY / PROJECT WALKTHROUGH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39047C-AB67-4B90-8EC7-9F5DE325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783140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5DE1FB-48E5-4AD9-A674-1FFD2392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09 / DISCOVERY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92A30-5CFA-4B22-A1AA-CF3621E2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Search and suggestions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2D1995-3976-4511-BEA1-105CD5EC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A small interaction that keeps the user moving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F0CB99-E862-42E2-8A21-5E56BE5F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2CDC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BE6DC-857A-4034-9C2C-D9BA07E3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266700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AF168F-229F-42DE-B9C6-E56E76FB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147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B7A58B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B7A5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7C0763-49D6-41ED-9E16-7CEBBB6B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Query entered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1C45FE-D85D-4035-82A9-FC7E2BD2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57600"/>
            <a:ext cx="762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B7A58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2C31E0-AC1D-4BA4-B590-76821F8A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43250"/>
            <a:ext cx="266700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B7A58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620465-0E4E-4B4E-8013-BB1ED30A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147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766FF0-8ED1-45A9-AF12-D5C8D482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95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Suggestions appear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D2850D-772A-460C-A34D-6527F599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57600"/>
            <a:ext cx="762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B7A58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320647-C513-462F-8FF9-287979D9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266700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61F713-17AA-4721-8ECA-5A1C6CD7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147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B7A58B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B7A5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1E159A-0F7B-4E9E-AFEB-C3B36904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95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Result selected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D63F24-6DEF-4178-BB43-F212D452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The interface uses fast feedback to reduce dead ends.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787D86-F8EA-45D1-90D9-8B1FCC0D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LENSIFY / PROJECT WALKTHROUGH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9CEF56-3275-41B4-8456-68FC6B27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777131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0CBB8D-7826-41F5-B168-0B56E277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10 / CONFIDENCE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979370-0AD0-4E2B-AA3F-FC76BB84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Product detail page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E0F9CC-700E-4980-A526-255A9FD1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The decision screen combines desire with enough information to 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30A3A7-CBE3-47EB-9DCB-DC811666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2CDC4"/>
            </a:solidFill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10088b5f7a4847"/>
          <a:srcRect xmlns:a="http://schemas.openxmlformats.org/drawingml/2006/main" l="0" t="4167" r="0" b="41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571750"/>
            <a:ext cx="3429000" cy="3143250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C833A5-FF80-4A0D-957D-F1B69779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6286500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7B7F52-53B6-4859-8E54-47827055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146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PRODUCT DETAIL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0BE7B6-A744-4775-A17D-C67B912D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33750"/>
            <a:ext cx="4000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Frame story</a:t>
            </a:r>
          </a:p>
          <a:p xmlns:a="http://schemas.openxmlformats.org/drawingml/2006/main">
            <a:pPr>
              <a:defRPr sz="210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Price and availability</a:t>
            </a:r>
          </a:p>
          <a:p xmlns:a="http://schemas.openxmlformats.org/drawingml/2006/main">
            <a:pPr>
              <a:defRPr sz="210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Details and reviews</a:t>
            </a:r>
          </a:p>
          <a:p xmlns:a="http://schemas.openxmlformats.org/drawingml/2006/main">
            <a:pPr>
              <a:defRPr sz="210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Add to bag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558B2F-ACE5-4A6D-B302-684525EA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219700"/>
            <a:ext cx="14287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B7A58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4FBC2B-55B5-4308-B351-48F4DD7E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86375"/>
            <a:ext cx="1200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DECISION SUPPORT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1DBE80-83A9-4C76-990A-55C92E15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LENSIFY / PROJECT WALKTHROUGH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907731-B799-4EE4-9056-25EE1F89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985936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3C8B9B-6872-466D-9C13-9C1762CE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11 / CHOICE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8968A1-8B58-48A4-8825-62C09813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Lens-type selection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AACF6-5384-49EF-ADFB-D5DB1CC9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Lens choice turns product interest into a configured order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3B3086-46C9-407C-98C7-D6B59BA3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2CDC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999618-6906-4646-B752-B20143E0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B7A58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B7A5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DAD36B-1209-48E7-9F75-75438546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4320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Select the 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47FF91-787C-41DF-B132-910905AE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43250"/>
            <a:ext cx="4953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2CDC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949677-0590-4A83-A111-5F827663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B7A58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B7A5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2B0C46-FC60-4143-89B3-D821C240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9090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Choose lens type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DE11F6-CEFE-40FE-987C-977166E4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90950"/>
            <a:ext cx="4953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2CDC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CBBF93-083E-4222-BEF4-380D1AB9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B7A58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B7A5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718986-F435-454A-BB68-CA78E63D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3860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Confirm the configured item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AB1261-20FB-4A5B-839C-5DF18C5F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38650"/>
            <a:ext cx="4953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2CDC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1EFDB1-CF4A-4CAE-AE42-A68D698C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B7A58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B7A5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937BF6-5E3E-4C67-A2F0-A565CB84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8630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Add to bag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E3D28C-A09D-4882-800F-021A1AA1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86350"/>
            <a:ext cx="4953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2CDC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D699B5-A3F1-48AC-8B83-B2B86D76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24150"/>
            <a:ext cx="3810000" cy="27241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7E3B4A-3B2A-4484-8DD5-D980A287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051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B7A58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B7A58B"/>
                </a:solidFill>
                <a:latin typeface="Aptos"/>
                <a:ea typeface="Aptos"/>
                <a:cs typeface="Aptos"/>
              </a:rPr>
              <a:t>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FB797A-B916-4439-85EE-07182457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62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Lens type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9DE99E-B9E7-45A9-9A61-FAF229C5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14800"/>
            <a:ext cx="2476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7A58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2F6425-5134-4BEE-812F-6D765419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38650"/>
            <a:ext cx="266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E6E1D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E6E1D8"/>
                </a:solidFill>
                <a:latin typeface="Aptos"/>
                <a:ea typeface="Aptos"/>
                <a:cs typeface="Aptos"/>
              </a:rPr>
              <a:t>A focused step keeps the configuration visible before checkout.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294EE6-7C19-4CD5-B1AC-8C2D197E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LENSIFY / PROJECT WALKTHROUGH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F8F151-DD36-4DF6-AA10-61324E86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852316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3FBF0B-361C-45E6-B32F-95F9A9E1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12 / RETENTION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BE782D-4244-4B43-B199-FD1FE870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Saved frames and wishlist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18CDC0-48C4-40AD-BB3A-985F5EE9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A saved frame gives the customer a reason to return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1481B0-89DD-4078-AD60-F78DCAC9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2CDC4"/>
            </a:solidFill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bc5ac47e3a4b41"/>
          <a:srcRect xmlns:a="http://schemas.openxmlformats.org/drawingml/2006/main" l="0" t="8462" r="0" b="84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705100"/>
            <a:ext cx="2476500" cy="2571750"/>
          </a:xfrm>
          <a:prstGeom xmlns:a="http://schemas.openxmlformats.org/drawingml/2006/main" prst="roundRect">
            <a:avLst>
              <a:gd name="adj" fmla="val 615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67B3FD-DD53-4E70-8362-D6D6CC98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05100"/>
            <a:ext cx="733425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F5B2AF-8142-41D8-B29F-AD80E795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48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SAVED FRAMES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FC4E82-FC38-4012-8C35-83F3E840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86150"/>
            <a:ext cx="457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The user can keep a shortlist</a:t>
            </a:r>
          </a:p>
          <a:p xmlns:a="http://schemas.openxmlformats.org/drawingml/2006/main">
            <a:pPr>
              <a:defRPr sz="22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without rebuilding the search.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C8370D-ECB3-4536-9202-2C0ED7A2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62500"/>
            <a:ext cx="14287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AAB7A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B120DC-901B-45BA-9964-3E7AC14A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829175"/>
            <a:ext cx="1200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ACCOUNT-LINKED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4B5FF3-7241-44D3-BB20-8DFD1E36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LENSIFY / PROJECT WALKTHROUGH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456B36-52FB-4F14-9019-82B10A31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5836599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0EFA2F-3490-47AE-BDD8-9924037D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13 / BAG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06118B-AEF0-4E57-BF5D-9129F2DE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Cart: review before checkout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BA5688-8AC5-44AA-A385-3EF7613C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The bag is a confidence checkpoint, not just a total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8DCE79-698F-4D1E-ABCB-B8FA2A77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2CDC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045F2A-7057-4C4A-985D-AAB1AD1B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5905500" cy="26289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BB1F3-9A40-496E-9136-7D6A05D9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BAG SUMMARY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2EC34B-1825-4283-8124-DBB5FEBB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86150"/>
            <a:ext cx="247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Frame</a:t>
            </a:r>
          </a:p>
          <a:p xmlns:a="http://schemas.openxmlformats.org/drawingml/2006/main">
            <a:pPr>
              <a:defRPr sz="1875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Lens type</a:t>
            </a:r>
          </a:p>
          <a:p xmlns:a="http://schemas.openxmlformats.org/drawingml/2006/main">
            <a:pPr>
              <a:defRPr sz="1875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Quantity</a:t>
            </a:r>
          </a:p>
          <a:p xmlns:a="http://schemas.openxmlformats.org/drawingml/2006/main">
            <a:pPr>
              <a:defRPr sz="1875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Subtotal</a:t>
            </a:r>
          </a:p>
          <a:p xmlns:a="http://schemas.openxmlformats.org/drawingml/2006/main">
            <a:pPr>
              <a:defRPr sz="1875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Delivery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BC45E7-BE42-4D06-A335-095CC519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52800"/>
            <a:ext cx="1905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2CDC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764B17-61E8-4E05-A706-EF7B635C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67050"/>
            <a:ext cx="323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Review the line item</a:t>
            </a:r>
          </a:p>
          <a:p xmlns:a="http://schemas.openxmlformats.org/drawingml/2006/main">
            <a:pPr>
              <a:defRPr sz="22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before committing.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B1E7AD-D286-404C-A5AA-825626F7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86300"/>
            <a:ext cx="14287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B7A58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76A466-A395-49B5-9C61-94EF9C09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52975"/>
            <a:ext cx="1200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SESSION BAG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01067E-A739-4E65-BB9B-C0F9B286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LENSIFY / PROJECT WALKTHROUGH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7FAC7D-90EB-42EF-86CF-F4597E16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8477263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319B0C-DC68-4A9E-9504-7E1A840B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14 / CONVERSION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086E92-45BA-4E05-AD96-A91A0018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Checkout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42679C-99A1-4012-A556-76345942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A step-by-step flow reduces last-minute uncertainty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BCC6E0-8B0D-4436-BDFA-09FEC663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2CDC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A60395-BC17-4751-8805-31825FBB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34290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6A8C54-B37E-462E-9F69-12FFF27E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B7A5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B7A5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B25A92-8547-44EA-A9AE-496CA641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241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Delivery address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8A1269-157B-498A-B43D-D57ED813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57550"/>
            <a:ext cx="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7A58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09C925-CABB-4F0A-A9B7-99B72D1B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34290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A474FC-6BEA-476F-8089-2F58555E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B7A5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B7A5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4AC2AF-2975-4047-8E36-86E21BCA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909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Order 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B0A624-238A-4986-82EF-C6D22ADE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924300"/>
            <a:ext cx="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7A58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D75B42-C96B-432F-BEBA-01B22AE6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34290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D6C7DA-F0C4-4A52-A13A-B497E004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B7A5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B7A5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E8D017-2BB2-475C-930E-FC727C38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576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Payment 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311564-2A59-4CD7-9D44-A45A755C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591050"/>
            <a:ext cx="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7A58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7D4454-5831-4061-B501-91794F48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34290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57A436-0A64-41AC-A108-AF043902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B7A5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B7A5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6837FE-5CB0-4871-8E73-E30A75AE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244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Confirmation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372A22-4A07-47EF-8A59-292617CF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00350"/>
            <a:ext cx="5715000" cy="24574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D8C776-918A-4586-A47D-7D936041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38500"/>
            <a:ext cx="457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Checkout keeps the next decision visible.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750C9D-54F8-4387-B436-913D4A06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6720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Address, delivery and payment states stay within one clear sequence.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8E1F1A-F1E3-49FC-A4AB-56A8B9B6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LENSIFY / PROJECT WALKTHROUGH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4A3F7E-00AA-4CDD-BAFB-AC4B8291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1257111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7AE7C4-E27E-47E2-A02C-B9AD7686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15 / PRODUCT TRUTH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1A4F4D-F566-4460-8C5A-1637ED6C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Payment state and honest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568691-0894-451C-98E4-501E7702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The build makes the current payment boundary visible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64E0A7-5592-4817-9009-4CBB834A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2CDC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DF46A6-F08B-4E00-9278-909B3EEE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4572000" cy="2286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6ABFC4-D846-4B45-965A-C5D11AB9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48000"/>
            <a:ext cx="14287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AAB7A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FF7B75-D5B6-4727-83D9-C4809421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14675"/>
            <a:ext cx="1200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A56552-8831-49B1-88BA-12E18A45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0045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Order creation</a:t>
            </a:r>
          </a:p>
          <a:p xmlns:a="http://schemas.openxmlformats.org/drawingml/2006/main">
            <a:pPr>
              <a:defRPr sz="1875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Confirmation state</a:t>
            </a:r>
          </a:p>
          <a:p xmlns:a="http://schemas.openxmlformats.org/drawingml/2006/main">
            <a:pPr>
              <a:defRPr sz="1875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Admin notification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2B8481-B916-4740-90F7-539E81AD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62250"/>
            <a:ext cx="4953000" cy="2286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DA56D1-F427-40E0-A95E-3B866EE2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48000"/>
            <a:ext cx="14287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B7A58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131852-93FE-4974-A92C-940D149F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14675"/>
            <a:ext cx="1200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NEXT INTEGRATION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30A845-ABD7-46A1-8D20-0B669713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00450"/>
            <a:ext cx="381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UPI, wallet and card</a:t>
            </a:r>
          </a:p>
          <a:p xmlns:a="http://schemas.openxmlformats.org/drawingml/2006/main">
            <a:pPr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gateway + webhook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A1602D-6EF6-4A6A-9475-18A4982C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A transparent boundary protects trust while the product is still in development.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8C2F82-ADB2-4370-8A44-F8821C9E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LENSIFY / PROJECT WALKTHROUGH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914E8D-6784-4B06-9189-476C6332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55408629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FDACE0-D66E-4155-9C73-E7DD6384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16 / CLOSURE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42C358-BB4E-4208-9B8E-2CA6A3FA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Order confirmation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69F6CF-5C3F-44EB-857D-40E7EE31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A clear finish makes the purchase feel complete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6C5594-1943-4CC4-BE54-7743AD3C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2CDC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F3F303-7C2E-4E48-BCD7-A40CAF45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762500" cy="2628900"/>
          </a:xfrm>
          <a:prstGeom xmlns:a="http://schemas.openxmlformats.org/drawingml/2006/main" prst="roundRect">
            <a:avLst>
              <a:gd name="adj" fmla="val 7246"/>
            </a:avLst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82ADB6-22B1-44E7-825E-85F8D461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623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B7A58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B7A58B"/>
                </a:solidFill>
                <a:latin typeface="Aptos"/>
                <a:ea typeface="Aptos"/>
                <a:cs typeface="Aptos"/>
              </a:rPr>
              <a:t>ORDER CONFIRMED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1ECEB9-63C7-48ED-AAA2-0C093A43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342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Your order is</a:t>
            </a:r>
          </a:p>
          <a:p xmlns:a="http://schemas.openxmlformats.org/drawingml/2006/main">
            <a:pPr>
              <a:defRPr sz="25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on its way.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0FCA14-76FB-4C9A-A9D3-8EA0E3F5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244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E6E1D8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E6E1D8"/>
                </a:solidFill>
                <a:latin typeface="Aptos"/>
                <a:ea typeface="Aptos"/>
                <a:cs typeface="Aptos"/>
              </a:rPr>
              <a:t>Order number</a:t>
            </a:r>
          </a:p>
          <a:p xmlns:a="http://schemas.openxmlformats.org/drawingml/2006/main">
            <a:pPr>
              <a:defRPr sz="1275" b="0" i="0">
                <a:solidFill>
                  <a:srgbClr val="E6E1D8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E6E1D8"/>
                </a:solidFill>
                <a:latin typeface="Aptos"/>
                <a:ea typeface="Aptos"/>
                <a:cs typeface="Aptos"/>
              </a:rPr>
              <a:t>Next 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858589-2442-4280-8D38-E9F289F3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24150"/>
            <a:ext cx="4857750" cy="2628900"/>
          </a:xfrm>
          <a:prstGeom xmlns:a="http://schemas.openxmlformats.org/drawingml/2006/main" prst="roundRect">
            <a:avLst>
              <a:gd name="adj" fmla="val 72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9797E8-D84B-4E04-B4AA-E584B5D4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432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POST-PURCHASE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88A322-E796-4509-9CB3-1B12C94E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43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B7A58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B7A5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86F396-A661-438F-9397-6AC2D881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242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View order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9E84C5-1DB6-4586-AC9E-1B39559C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24300"/>
            <a:ext cx="4953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2CDC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41F6F2-6AB1-4A75-9A7F-A3255184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95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B7A58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B7A5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BA58EC-1FAE-4637-B919-B7C2B1B0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7670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Track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705005-EE05-4D67-BE3D-25D93E2E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76750"/>
            <a:ext cx="4953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2CDC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D25D93-9DC4-4763-8603-10B50748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482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B7A58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B7A5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A543DB-B5A9-4E9F-9261-E1D3826A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291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Request return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9D690F-4E14-4E28-BCA6-3FC186DE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029200"/>
            <a:ext cx="4953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2CDC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82BA70-5662-4F0E-8BD8-47B2C2CF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LENSIFY / PROJECT WALKTHROUGH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24EE09-6D48-49BE-9374-03AF3487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85008505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BF0EA6-5898-4B6F-8503-BFDA3C92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17 / AFTERCARE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67B666-2671-418F-84A3-1CCC0B0F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Orders, returns and notifications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271B81-C057-4139-8A8B-17FEE78B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The relationship continues after payment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4FF748-76D5-4663-B723-8A04EA8E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2CDC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9B589-F8DE-4A0F-80DD-83C1FA24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ORDER LIFECYCLE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69B5BD-F52A-47C9-A1F9-3246CD9D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14700"/>
            <a:ext cx="177165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8D07B6-6B57-40EB-BB89-B66A08D1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337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Placed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36B1A7-2080-451E-8C3D-EE497159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48075"/>
            <a:ext cx="8001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B7A58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C450BF-9CA9-4202-A059-4DBF0A9F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14700"/>
            <a:ext cx="177165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E31E4A-9EF5-4912-A338-8945AFC9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337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Processing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46FD29-6244-4DCC-A8A6-3D782852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648075"/>
            <a:ext cx="8001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B7A58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A15A22-DEF9-41E6-868D-182DAFA7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314700"/>
            <a:ext cx="177165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D7FCD8-BCE3-40F0-9D95-6C29A22F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337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Shipped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02CF65-76C4-4B06-91A8-F70A61A1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48075"/>
            <a:ext cx="8001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B7A58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F307BB-580C-4CFB-8F6E-FB993F14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14700"/>
            <a:ext cx="177165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AB4563-4850-49BF-89AA-B8D3F9CA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337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Delivered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6479B9-21AB-4AC3-9D08-3AF17A1D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Customer status → return request → admin review → notification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C02AC3-6468-4F38-B38B-84EE70D0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LENSIFY / PROJECT WALKTHROUGH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0C9C7E-F1BF-42BF-88CB-737BD60D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9408893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23EC5F-0091-458F-98E3-5D8358EF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18 / ACCOUNT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7EBEB3-073D-4B39-9923-9EF2F3F4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Account area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1C84A-A97E-4AAA-BB89-71240D02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One place for the customer’s continuing relationship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80FE79-83DE-497A-A4E0-47B8EAC9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2CDC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4E7D8-00E2-46EA-B493-E35DD354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285750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3A6EDE-5B04-4B45-B65A-5264FEF2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B7A58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B7A58B"/>
                </a:solidFill>
                <a:latin typeface="Aptos"/>
                <a:ea typeface="Aptos"/>
                <a:cs typeface="Aptos"/>
              </a:rPr>
              <a:t>ACCOUNT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B8E060-C31A-4834-A042-19701FFF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62350"/>
            <a:ext cx="1905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Profile</a:t>
            </a:r>
          </a:p>
          <a:p xmlns:a="http://schemas.openxmlformats.org/drawingml/2006/main">
            <a:pPr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Orders</a:t>
            </a:r>
          </a:p>
          <a:p xmlns:a="http://schemas.openxmlformats.org/drawingml/2006/main">
            <a:pPr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Saved frames</a:t>
            </a:r>
          </a:p>
          <a:p xmlns:a="http://schemas.openxmlformats.org/drawingml/2006/main">
            <a:pPr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Delivery address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4BA8F7-3A2F-488D-8575-3D736C0D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67000"/>
            <a:ext cx="685800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819661-5435-459A-A492-02B39655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62300"/>
            <a:ext cx="542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The account area gives customers control over the information they reuse.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720A91-BBD0-4990-BB17-5B3A7F61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762500"/>
            <a:ext cx="14287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AAB7A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4FCD5D-392F-4B1C-8313-F5773BA9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829175"/>
            <a:ext cx="1200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PERSONAL SPACE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E547C1-1FD5-4A19-B7E1-68BE7312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LENSIFY / PROJECT WALKTHROUGH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310C90-88DD-4157-A311-D013CAF9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72549979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47EA43-9988-425E-BB3E-F4724B6B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19 / SUPPORT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0BF6A5-000A-46C1-8AED-B79935A4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Contact and support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D9E0AA-2125-4E14-8727-B5C820EE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Customer messages become visible work for the operator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2AA3C9-1BD7-4F58-9446-6CBAA854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2CDC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6705C-D436-4DD2-AF40-AEB765E4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9527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3DB1EE-CAE6-4106-8C1A-D11308BD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Customer message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16F88D-6951-4B44-9C7F-EE8D29EF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33750"/>
            <a:ext cx="1143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B7A58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145123-55F4-44CB-82A8-C3F7762E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57500"/>
            <a:ext cx="29527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B7A58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27BB50-3BCC-4416-A29F-86F00A0A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004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Admin notification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CD2193-A815-4056-B69E-32160643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33750"/>
            <a:ext cx="1143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B7A58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0F3326-2AD9-44FA-B6DB-C353D90C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57500"/>
            <a:ext cx="18288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E6592D-C803-4926-B94C-E47DFC9F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004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7914D3-BE9C-47DE-99B6-08282FB6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The support flow keeps communication connected to the back office.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A32064-82B2-46B7-A804-14648985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LENSIFY / PROJECT WALKTHROUGH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DDA36F-892D-40A4-B155-6A52CA5E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29311432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616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A2F8E3-45B2-4702-BDA0-90F5853D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B7A58B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B7A58B"/>
                </a:solidFill>
                <a:latin typeface="Aptos"/>
                <a:ea typeface="Aptos"/>
                <a:cs typeface="Aptos"/>
              </a:rPr>
              <a:t>LENSIFY ADMIN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86401-3FB4-4236-9375-8BDCA7F8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5905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9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9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Operational</a:t>
            </a:r>
          </a:p>
          <a:p xmlns:a="http://schemas.openxmlformats.org/drawingml/2006/main">
            <a:pPr>
              <a:defRPr sz="49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9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536B71-9AC1-4585-AEDF-6C1437B4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514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E6E1D8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E6E1D8"/>
                </a:solidFill>
                <a:latin typeface="Aptos"/>
                <a:ea typeface="Aptos"/>
                <a:cs typeface="Aptos"/>
              </a:rPr>
              <a:t>Now we move behind the storefront, where catalogue, orders and customer signals become manageable work.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29E4CB-DBA6-4783-9F39-FE1643EA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4287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B7A58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1FBB38-2CFA-427B-957E-E295AB4A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86375"/>
            <a:ext cx="1200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CHAPTER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EE86B9-FFB7-45E1-9885-D3301720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LENSIFY / ADMIN CONSOLE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FBA654-0EA3-4A4F-9B23-B9951AC5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13134992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197784-E329-401D-A399-1BA70BD9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20 / ADMIN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0B0A95-DDC2-40F7-9E7B-46A48490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Admin dashboard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16ABD0-8642-418D-87F3-B0518E27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A quick overview of what needs attention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C725A6-D7C2-47C0-A266-7B928826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2CDC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2E246E-FA89-4DA8-8473-BD96506B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190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1399AB-443D-4A00-BA47-EBFE627D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718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B7A58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B7A58B"/>
                </a:solidFill>
                <a:latin typeface="Aptos"/>
                <a:ea typeface="Aptos"/>
                <a:cs typeface="Aptos"/>
              </a:rPr>
              <a:t>ORDERS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83654B-9E05-4AA9-904D-71B04E9F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66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B094A8-D1C4-461C-BC63-CDD8414C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24150"/>
            <a:ext cx="2190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647118-99BA-41A2-A1ED-F9748CF9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718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ACTIVITY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51D65D-75E3-4034-AE55-80DBB1DD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766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Shortcuts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31A34A-9A67-47B7-B181-9E46352C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724150"/>
            <a:ext cx="541020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B612B9-4914-4800-B8FF-B5183C4B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05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Dashboard composition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C4B79A-A12A-4FF9-8F26-80D17EDC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957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KPI cards</a:t>
            </a:r>
          </a:p>
          <a:p xmlns:a="http://schemas.openxmlformats.org/drawingml/2006/main">
            <a:pPr>
              <a:defRPr sz="16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Recent activity</a:t>
            </a:r>
          </a:p>
          <a:p xmlns:a="http://schemas.openxmlformats.org/drawingml/2006/main">
            <a:pPr>
              <a:defRPr sz="16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Quick links</a:t>
            </a:r>
          </a:p>
          <a:p xmlns:a="http://schemas.openxmlformats.org/drawingml/2006/main">
            <a:pPr>
              <a:defRPr sz="16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Unread notifications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9DAF2F-A1E3-4FEE-842F-71234059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LENSIFY / PROJECT WALKTHROUGH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E5C486-2D4E-487D-AA21-D401A7F3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78320939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6111B5-04D7-467C-B0DD-4C4BC01A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21 / CATALOGUE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891CF-0AB1-4052-AF54-D499D096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Catalogue management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CFADC-6EC5-4FD9-966B-B3EB9A58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Products, variants, categories and brands share one operating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4151DD-8CCA-4B62-A94C-88009AD3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2CDC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E25177-082A-4C5C-9814-1B91B188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23241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68CA73-08D6-4018-A523-ECB35B0B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76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Products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B7DC8F-C56C-407D-8D32-790A5BC8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B7A58B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B7A58B"/>
                </a:solidFill>
                <a:latin typeface="Aptos"/>
                <a:ea typeface="Aptos"/>
                <a:cs typeface="Aptos"/>
              </a:rPr>
              <a:t>product records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1EF369-31F0-4A44-B31C-E703FB93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28950"/>
            <a:ext cx="23241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730145-9B70-4271-A5E4-262427EA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76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Variants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272034-7048-4539-A9FD-198314EF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14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options + stock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78D7F2-4471-4575-878D-27EC3D1D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28950"/>
            <a:ext cx="23241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13A198-58A1-49CD-8BEE-97639FE5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76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Categories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D062A0-4D8A-443D-AB0A-B616D33B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14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navigation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265810-FF93-4AA9-9C05-E9FD8D7E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28950"/>
            <a:ext cx="23241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7DAA1F-41E5-49F8-9C5A-D40085CC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76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Brands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3EA655-B9B8-4FEA-A9B0-6E2CEA0B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14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catalogue identity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CED7A3-33E6-459B-A6DE-F8DF53FA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CRUD screens keep the catalogue maintainable without editing raw data.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57EA58-238E-46B4-BB03-79E0934B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LENSIFY / PROJECT WALKTHROUGH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1B7937-B0DC-43AF-9A33-1BD75838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3584901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43DC12-28F1-4ACE-AC79-F56D57EE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22 / INVENTORY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5B8894-4CCE-46E2-8BCD-2073F4B6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Inventory and stock history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1357CB-EAF7-4F8C-AF74-2B3CA1CA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Stock needs both a current answer and a past trail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0A1172-C519-4868-9D47-D4B974BD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2CDC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95F73D-FB3B-46BD-A27C-723AC151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4762500" cy="24003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522F4A-2122-4284-8D50-67F4B26F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CURRENT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92DB1D-2149-4321-80D9-817DB3D8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What is available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8822F9-5593-4E12-844A-32B50581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148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Variant-level visibility</a:t>
            </a:r>
          </a:p>
          <a:p xmlns:a="http://schemas.openxmlformats.org/drawingml/2006/main">
            <a:pPr>
              <a:defRPr sz="1425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Low-stock awareness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F01C47-8205-430E-943A-6E8D9A09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00350"/>
            <a:ext cx="4953000" cy="24003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04EF89-C2F9-445B-89FB-E74DA0F8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432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B7A58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B7A58B"/>
                </a:solidFill>
                <a:latin typeface="Aptos"/>
                <a:ea typeface="Aptos"/>
                <a:cs typeface="Aptos"/>
              </a:rPr>
              <a:t>HISTORY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E70FEB-63E3-4E54-9622-33737BCC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433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changed and when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2935DB-23C5-415A-9F7F-ADF06AC9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148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E6E1D8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E6E1D8"/>
                </a:solidFill>
                <a:latin typeface="Aptos"/>
                <a:ea typeface="Aptos"/>
                <a:cs typeface="Aptos"/>
              </a:rPr>
              <a:t>Stock events become traceable work.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E3817B-A1AD-4C35-9F00-81779BF4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LENSIFY / PROJECT WALKTHROUGH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42B3D2-7D2C-4CFF-85FD-FB675636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70861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388572-57C4-45CB-B81A-422BC8D3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23 / FULFILMENT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41E7EC-BBE9-4657-9380-E6259901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Orders and returns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F4B4A-1602-439D-B5AE-A1AE56EB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Order status becomes a shared language between customer and admin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B60404-0AB3-4600-9FC3-8C83DA8C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2CDC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8BC2D7-D21E-4AE6-868D-57691D21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98120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AAE284-0597-496C-A234-418BA259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909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New order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94E88A-F3B6-400A-9165-4632B2A2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14725"/>
            <a:ext cx="6477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B7A58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20FEF3-8B5A-4881-9EE8-1CB39DDF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43250"/>
            <a:ext cx="198120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A14814-4FC1-47FB-B3EF-F0E5214D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909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Processing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EA3066-7B01-4134-BD0C-7C69BF9E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514725"/>
            <a:ext cx="6477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B7A58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A8C966-55BE-49E1-941B-388EB90F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43250"/>
            <a:ext cx="198120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21A900-3AEF-49CF-9F3D-7BB224D9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909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Shipped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E22ED8-B8A8-4409-8C57-26A83BDE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14725"/>
            <a:ext cx="6477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B7A58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3DE5B4-BCB0-426D-8E1C-C2D102FB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43250"/>
            <a:ext cx="198120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B7A58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AB6D2D-DF4D-474B-9F0C-3B54563A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909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Return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E47728-9855-4A96-8348-E90189D0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The state machine gives every handoff a visible place.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21D9A3-A622-4DE3-8302-1713016E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LENSIFY / PROJECT WALKTHROUGH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C954FC-C314-4C70-AA4F-700B9C32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16079835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057EC3-6CC2-418F-B9C5-E4F4F018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24 / MODERATION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5F961C-F9F1-4BD4-88BF-43AC92B0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Reviews, messages and notifications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242495-1DF6-4876-BAA0-D9AF526B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Signals from customers should become organised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C256B9-B1D9-4FE0-8229-0B165B8F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2CDC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C7E655-94F2-4972-B349-F633DCE0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0480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1E0A57-FD9B-4EC6-8684-8DB47D0E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623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INBOX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A387D6-85A8-4109-810A-4501DA34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62350"/>
            <a:ext cx="190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Reviews</a:t>
            </a:r>
          </a:p>
          <a:p xmlns:a="http://schemas.openxmlformats.org/drawingml/2006/main">
            <a:pPr>
              <a:defRPr sz="210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Messages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4C888D-F6E8-4F63-9369-33887AE3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57500"/>
            <a:ext cx="30480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B7A58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36C7A6-FE83-45EC-84F8-7F8D1FA5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623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40FC0B-DB8C-4E18-ACAF-6BB08DD4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562350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Moderate</a:t>
            </a:r>
          </a:p>
          <a:p xmlns:a="http://schemas.openxmlformats.org/drawingml/2006/main">
            <a:pPr>
              <a:defRPr sz="210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Respond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660D8D-8709-41F2-9B87-5912BDCA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57500"/>
            <a:ext cx="25908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D6BD2C-C662-4EB7-BEC1-7FA0C232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623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B7A58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B7A58B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49F438-7361-4847-93A0-1B8FC423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62350"/>
            <a:ext cx="190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Notify</a:t>
            </a:r>
          </a:p>
          <a:p xmlns:a="http://schemas.openxmlformats.org/drawingml/2006/main">
            <a:pPr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Record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8C96CD-859C-4EEB-AA4B-40492CF1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LENSIFY / PROJECT WALKTHROUGH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5701E2-FB1E-4BF3-B53C-6FD07456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57516651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964978-7ABA-4BBA-94BD-BCF37B98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25 / MERCHANDISING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99B609-1A10-4E8C-A635-1619273C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Banners and coupons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74E0DC-D0F0-4E0B-A359-BC3F8170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The operator can shape the storefront without touching page code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AB2536-95A1-46AC-8BD1-603D61FC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2CDC4"/>
            </a:solidFill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da0baa87774d18"/>
          <a:srcRect xmlns:a="http://schemas.openxmlformats.org/drawingml/2006/main" l="0" t="3622" r="0" b="36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724150"/>
            <a:ext cx="4000500" cy="2476500"/>
          </a:xfrm>
          <a:prstGeom xmlns:a="http://schemas.openxmlformats.org/drawingml/2006/main" prst="roundRect">
            <a:avLst>
              <a:gd name="adj" fmla="val 615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4C62D5-F972-447A-AA80-B0807715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24150"/>
            <a:ext cx="579120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BFABEE-1422-4792-8EEA-53178477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105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MERCHANDISING CONTROLS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C54FE0-4D7E-47DA-BF64-0B47389A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562350"/>
            <a:ext cx="342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Campaign banners</a:t>
            </a:r>
          </a:p>
          <a:p xmlns:a="http://schemas.openxmlformats.org/drawingml/2006/main">
            <a:pPr>
              <a:defRPr sz="210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Coupon rules</a:t>
            </a:r>
          </a:p>
          <a:p xmlns:a="http://schemas.openxmlformats.org/drawingml/2006/main">
            <a:pPr>
              <a:defRPr sz="210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Homepage emphasis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D9C85F-A8BF-41A4-93CB-6F37FE08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724400"/>
            <a:ext cx="14287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B7A58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F8F277-59AE-4EED-9E93-6226460A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791075"/>
            <a:ext cx="1200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CONTENT 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C7A868-E1AC-4B48-AD85-8F03BC68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LENSIFY / PROJECT WALKTHROUGH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B695E6-7820-4449-9E64-A84C5814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86274824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8CC644-8581-4094-BA49-17A994AB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26 / INSIGHT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3B0CDB-643E-4BCB-A287-1000CEBE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Reports, customers and activity logs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C55A8F-C8D3-4431-AC77-16B0EAFC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Visibility becomes useful when it also leaves a trail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58AD4A-AB47-402C-A3AF-512286C7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2CDC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5783F9-DFD5-4CC5-8C75-CFC96C81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3048000" cy="2286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3AF58F-4092-441A-8C1F-EACE9740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B7A58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B7A58B"/>
                </a:solidFill>
                <a:latin typeface="Aptos"/>
                <a:ea typeface="Aptos"/>
                <a:cs typeface="Aptos"/>
              </a:rPr>
              <a:t>REPORTS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A91D8C-BB5E-4C4D-B055-BD1384C5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0450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Business view</a:t>
            </a:r>
          </a:p>
          <a:p xmlns:a="http://schemas.openxmlformats.org/drawingml/2006/main">
            <a:pPr>
              <a:defRPr sz="21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for decisions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136E3D-BCE5-4627-83EB-A3E4AE35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62250"/>
            <a:ext cx="3048000" cy="2286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350C88-BBB1-4A09-A131-F0CB2B60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432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CUSTOMERS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DDE77B-3148-4E1D-9AA2-71B671B0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00450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Records</a:t>
            </a:r>
          </a:p>
          <a:p xmlns:a="http://schemas.openxmlformats.org/drawingml/2006/main">
            <a:pPr>
              <a:defRPr sz="2175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with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406AF6-4A92-4D73-8D96-95997AAE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62250"/>
            <a:ext cx="2590800" cy="2286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EF0952-13B9-4E2E-9DA6-A71B5C4F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432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LOGS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41B4A1-B2A6-45C4-BBEC-845CFA78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00450"/>
            <a:ext cx="190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Accountability</a:t>
            </a:r>
          </a:p>
          <a:p xmlns:a="http://schemas.openxmlformats.org/drawingml/2006/main">
            <a:pPr>
              <a:defRPr sz="1875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by event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1D7298-6170-4372-A004-83DAD2ED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LENSIFY / PROJECT WALKTHROUGH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CC90F0-D3B9-4D5B-AE61-F727EB1A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53317065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9D6B2B-27DB-43AF-AF89-D1FA2D18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27 / RESPONSIVE UX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87E683-74D6-4904-A7ED-2E8A69AD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Responsive by default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74CE05-CCC5-4625-BF8F-79858DDC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The same story should feel credible on every screen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16C6AB-A7B1-4A45-90BA-7D0D076D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2CDC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6D46AC-8D7F-4D4C-9258-24960C81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3143250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77A294-43D3-4048-886A-27D53110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63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Desktop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ED3056-4B1D-4FEC-822D-F1144A65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05150"/>
            <a:ext cx="238125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B7A58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47CB11-7DB4-4D44-92EA-8728197B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95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Tablet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1147B1-13A2-428D-A2CE-C8A1BC79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76600"/>
            <a:ext cx="1428750" cy="2571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AAB7A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8DBE8C-D5F8-4E7F-AC27-5A96346A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60198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Mobile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4CE768-4C0E-4CBF-8F54-9B5B3BD9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Layout, navigation and touch targets adapt without changing the product model.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99B32C-C51F-49DD-B9E1-DF1F5DE4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LENSIFY / PROJECT WALKTHROUGH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624708-4004-433B-A5F5-28F96F6C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47325884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57C1A6-849E-4AFE-A031-538D6E1B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28 / TECHNICAL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6FD583-F6F0-428D-B21C-3B3B28CC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Technical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E1712-C744-444A-83DC-F52434F9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A small, explicit stack keeps the project easy to understand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8555DE-DCBB-4142-8EBC-D4003C69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2CDC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9B2948-7523-4132-8BD9-EA34BA19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55245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BD155D-4BA7-4D4B-9A55-4FF4E7FF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UI routes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D0DFBA-2F77-482F-8EC1-7DA55864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813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B7A58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B7A58B"/>
                </a:solidFill>
                <a:latin typeface="Aptos"/>
                <a:ea typeface="Aptos"/>
                <a:cs typeface="Aptos"/>
              </a:rPr>
              <a:t>PHP pages + Tailwind CDN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7B3B35-8BA8-42A1-BAA7-B507D03E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55245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2739D-20EA-44B6-A62C-6404C4FC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Application 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2929B6-37C3-4E8A-A408-A529729E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052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bootstrap, sessions, helpers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A32F63-EADF-4098-90AB-E1B4AE27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55245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126B1D-C3EA-423D-8CB3-8530DDA5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291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Data layer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10B0EC-24AC-4047-8288-CC6BB063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29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MySQL / MariaDB schema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F49CA9-9FB6-4FC6-82D6-5B8D1873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55245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EE4722-EFFF-46A8-8D04-4AEC3615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Assets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18E29D-A2C5-4545-B40F-25B5DA10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53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uploads, product media, banners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27FF85-77C1-4323-8C5B-A1F007D4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28900"/>
            <a:ext cx="3714750" cy="26860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E6E1D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D10300-0CB2-4F68-A6ED-64C275B3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670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Request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CF968C-F7A7-46AE-9A0A-776800D7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909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B7A58B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B7A58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55EABC-823E-4D50-9933-6C5D9BE9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52850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Route → bootstrap → database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Response → template → browser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68AB8D-87A9-48DB-8055-8271981B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LENSIFY / PROJECT WALKTHROUGH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C47BE4-3CAC-44C6-A776-66F98BC9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38251703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BD46DA-D361-456A-A462-4CA1A2B7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29 / TRUST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CC33B-7C0A-4A3B-8C47-7A5A844C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Security and data handling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CD6BCC-9F8D-446F-9002-FA524E72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Practical safeguards keep a small application dependable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24668E-766E-45F6-ABDB-49016FF6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2CDC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D0D577-34C0-48B4-A5E6-6D033021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28575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3AE3FE-E574-4544-90F2-5786DA4C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B7A5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B7A5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A591DE-0992-47B1-83EF-BAE2070C5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337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Session isolation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15CAC-EFC3-431C-B8E5-BE54145C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62250"/>
            <a:ext cx="28575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46EC28-B99F-4C31-A6CF-B683E5DF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337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B7A5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B7A5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4B4AB1-A395-4DC4-8306-585E05B5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337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Role checks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BFEA0C-1F25-408F-9446-ADF53DD4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62250"/>
            <a:ext cx="28575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4BA4F4-4BDF-4BC1-BC4D-B32AAFBA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337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B7A5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B7A5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137737-E349-4DBA-B976-F08AFD45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337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Prepared queries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871E06-47DF-4444-93D3-350B3B63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28575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2ED74A-71DC-4466-B589-7F8ECB6A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B7A5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B7A5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1BFAD6-DF5D-4288-B108-D5752293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576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Upload validation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EC01BC-40B2-4BB1-8267-4F45C5D6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86200"/>
            <a:ext cx="28575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8F647-0236-4CDB-9A89-58E32FA6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576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B7A5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B7A5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5CFF2F-2DC1-4F24-8017-E3DBAEBB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576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Admin activity logs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1B5947-36DC-42EB-AF22-5B068A48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86200"/>
            <a:ext cx="28575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86FFE5-0A38-4FC4-9645-25A6BB92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576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B7A5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B7A5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0C0DA8-689B-40EC-9E9D-402180E2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576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Environment overrides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297080-F1EF-4114-A14B-724761FC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LENSIFY / PROJECT WALKTHROUGH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FC745E-89F7-4105-9B4E-A397C4B6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23626611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F4967B-4694-4B22-BA4C-C359CAAF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30 /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C41678-77CF-439B-BD36-266B02AA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Implementation status and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183181-0E2C-4E57-8671-C36C16F8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The current build is clear about what is ready and what needs production hardening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D4B594-727A-4795-83B7-C6C66F15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2CDC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533FCB-6974-43E4-8343-FBCE20D8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0289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8D2687-F673-4CF9-8126-B2E81B33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B7A58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B7A58B"/>
                </a:solidFill>
                <a:latin typeface="Aptos"/>
                <a:ea typeface="Aptos"/>
                <a:cs typeface="Aptos"/>
              </a:rPr>
              <a:t>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789810-D85F-4DCA-B009-3007E026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Core storefront</a:t>
            </a:r>
          </a:p>
          <a:p xmlns:a="http://schemas.openxmlformats.org/drawingml/2006/main">
            <a:pPr>
              <a:defRPr sz="18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Customer account</a:t>
            </a:r>
          </a:p>
          <a:p xmlns:a="http://schemas.openxmlformats.org/drawingml/2006/main">
            <a:pPr>
              <a:defRPr sz="18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Admin console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DE65B2-F8B8-4EA3-9677-4CE88188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81300"/>
            <a:ext cx="30289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F6912C-FA0A-490F-9E5B-172FA72F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861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D9A215-28D5-489F-97AE-39243FF9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24250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Real payment gateway</a:t>
            </a:r>
          </a:p>
          <a:p xmlns:a="http://schemas.openxmlformats.org/drawingml/2006/main">
            <a:pPr>
              <a:defRPr sz="1875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Webhook verification</a:t>
            </a:r>
          </a:p>
          <a:p xmlns:a="http://schemas.openxmlformats.org/drawingml/2006/main">
            <a:pPr>
              <a:defRPr sz="1875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Owned product photography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ED19D0-B7D2-4B2F-BBEA-E703EEDC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81300"/>
            <a:ext cx="30289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26C85D-C346-4A71-BD20-8E90092C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861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LATER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2B7D6B-7A7C-423B-B0C0-5E4D27E3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24250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Deployment hardening</a:t>
            </a:r>
          </a:p>
          <a:p xmlns:a="http://schemas.openxmlformats.org/drawingml/2006/main">
            <a:pPr>
              <a:defRPr sz="1875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Approved legal copy</a:t>
            </a:r>
          </a:p>
          <a:p xmlns:a="http://schemas.openxmlformats.org/drawingml/2006/main">
            <a:pPr>
              <a:defRPr sz="1875" b="1" i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61616"/>
                </a:solidFill>
                <a:latin typeface="Aptos"/>
                <a:ea typeface="Aptos"/>
                <a:cs typeface="Aptos"/>
              </a:rPr>
              <a:t>Operational monitoring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17CECB-6224-4834-8407-281BC59E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LENSIFY / PROJECT WALKTHROUGH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0C25A3-20F5-46E3-AB03-6EC9C4A2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2736223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1616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ba0c0ba8a74881"/>
          <a:srcRect xmlns:a="http://schemas.openxmlformats.org/drawingml/2006/main" l="25900" t="0" r="259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9158B8-F58A-4E0B-A1B4-48938938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81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57A3CF-A479-4D07-B6BE-EAA8CD8B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B7A58B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B7A58B"/>
                </a:solidFill>
                <a:latin typeface="Aptos"/>
                <a:ea typeface="Aptos"/>
                <a:cs typeface="Aptos"/>
              </a:rPr>
              <a:t>LENSIFY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9EE4B-1F7D-48F0-8F39-7C1D8945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52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complete</a:t>
            </a:r>
          </a:p>
          <a:p xmlns:a="http://schemas.openxmlformats.org/drawingml/2006/main">
            <a:pPr>
              <a:defRPr sz="4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product story.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2FBC5E-76EB-4867-8CAB-82702FF4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533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E6E1D8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E6E1D8"/>
                </a:solidFill>
                <a:latin typeface="Aptos"/>
                <a:ea typeface="Aptos"/>
                <a:cs typeface="Aptos"/>
              </a:rPr>
              <a:t>From discovery to fulfilment, the project connects interface, data and operations into one explainable system.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311777-F5D9-41FA-AB59-5FF7C193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76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B7A58B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B7A58B"/>
                </a:solidFill>
                <a:latin typeface="Aptos"/>
                <a:ea typeface="Aptos"/>
                <a:cs typeface="Aptos"/>
              </a:rPr>
              <a:t>Thank you  /  Questions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4AD8CE-B6B5-4A70-A720-40783C67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LENSIFY / 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8B3F1B-F7AC-4ABA-93CA-E6F4934E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6D6A65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6D6A65"/>
                </a:solidFill>
                <a:latin typeface="Aptos"/>
                <a:ea typeface="Aptos"/>
                <a:cs typeface="Aptos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6515170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2026-09-15T19:15:12.8420000Z</dcterms:created>
  <dcterms:modified xsi:type="dcterms:W3CDTF">2026-09-15T19:15:12.8420000Z</dcterms:modified>
</coreProperties>
</file>